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media/image9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2000" spc="-1" strike="noStrike">
                <a:latin typeface="Arial"/>
              </a:rPr>
              <a:t>Click to edit the notes format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595CE79D-6D06-476F-9085-DD9E1FEC2E45}" type="slidenum">
              <a:rPr b="0" lang="ru-RU" sz="1400" spc="-1" strike="noStrike">
                <a:latin typeface="Times New Roman"/>
              </a:rPr>
              <a:t>1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09901EC-7F44-4A0D-ADC8-E26732FC1B11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79336FE-8A1F-4CC4-ADB4-762E202C0752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767307B-CEAB-48CA-B1AF-C4359B9A2627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44E8FCB-C0FC-4972-805D-82FB3425BB5E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EA6614E-15B2-45EC-AB4F-CC5EC2FCD4FE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701AFF7-6B2F-48F5-ABA3-89F5B83068CA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471B24E-6E9E-4C4B-9650-6460DB5BF2A9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4EF2C1B-BE10-4773-A601-2F9411A06AB3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DCBA031-A6C4-4138-B49D-680ABC8FF6D3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C5346B2-9364-4530-9BCF-C489F824A905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22A5931-2C9D-491C-B3B6-5BE959F0989B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"/>
          <p:cNvPicPr/>
          <p:nvPr/>
        </p:nvPicPr>
        <p:blipFill>
          <a:blip r:embed="rId1"/>
          <a:stretch/>
        </p:blipFill>
        <p:spPr>
          <a:xfrm>
            <a:off x="36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45" name="CustomShape 1"/>
          <p:cNvSpPr/>
          <p:nvPr/>
        </p:nvSpPr>
        <p:spPr>
          <a:xfrm>
            <a:off x="648360" y="1248840"/>
            <a:ext cx="5984640" cy="56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3101"/>
              </a:lnSpc>
            </a:pPr>
            <a:r>
              <a:rPr b="1" lang="ru-RU" sz="2200" spc="-1" strike="noStrike">
                <a:solidFill>
                  <a:srgbClr val="000000"/>
                </a:solidFill>
                <a:latin typeface="Calibri"/>
              </a:rPr>
              <a:t>Мой проект: робот67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46" name="CustomShape 2"/>
          <p:cNvSpPr/>
          <p:nvPr/>
        </p:nvSpPr>
        <p:spPr>
          <a:xfrm>
            <a:off x="648360" y="2327400"/>
            <a:ext cx="5818680" cy="1778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В этой презентации мы рассмотрим мой проект, его цели и задачи. Обсудим основные компоненты, включая Arduino и камеру, их характеристики и принцип работы системы. Также представим этапы разработки, результаты тестирования и возможные применения и перспективы развития проекта.</a:t>
            </a:r>
            <a:endParaRPr b="0" lang="ru-RU" sz="1500" spc="-1" strike="noStrike"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2"/>
          <a:stretch/>
        </p:blipFill>
        <p:spPr>
          <a:xfrm>
            <a:off x="6467040" y="432000"/>
            <a:ext cx="5196960" cy="5328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49" name="CustomShape 1"/>
          <p:cNvSpPr/>
          <p:nvPr/>
        </p:nvSpPr>
        <p:spPr>
          <a:xfrm>
            <a:off x="232920" y="833400"/>
            <a:ext cx="10141200" cy="56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3101"/>
              </a:lnSpc>
            </a:pPr>
            <a:r>
              <a:rPr b="1" lang="ru-RU" sz="2200" spc="-1" strike="noStrike">
                <a:solidFill>
                  <a:srgbClr val="000000"/>
                </a:solidFill>
                <a:latin typeface="Calibri"/>
              </a:rPr>
              <a:t>Цель и задачи проекта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50" name="CustomShape 2"/>
          <p:cNvSpPr/>
          <p:nvPr/>
        </p:nvSpPr>
        <p:spPr>
          <a:xfrm>
            <a:off x="232920" y="2078280"/>
            <a:ext cx="3324600" cy="1778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Цель проекта — создание работоспособного робота на платформе Arduino, который способен распознавать число 67 при его демонстрации в камеру с точностью 167%.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51" name="CustomShape 3"/>
          <p:cNvSpPr/>
          <p:nvPr/>
        </p:nvSpPr>
        <p:spPr>
          <a:xfrm>
            <a:off x="4389120" y="2078280"/>
            <a:ext cx="3324600" cy="2576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Для достижения этой цели поставлены задачи: разработка программного обеспечения для распознавания числа, оптимизация алгоритмов обработки видеоизображения и настройка параметров системы для достижения требуемой точности.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52" name="CustomShape 4"/>
          <p:cNvSpPr/>
          <p:nvPr/>
        </p:nvSpPr>
        <p:spPr>
          <a:xfrm>
            <a:off x="8545320" y="2078280"/>
            <a:ext cx="3324600" cy="151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В процессе работы над проектом было проведено более 67 тестовых испытаний, подтвердивших эффективность разработанных решений.</a:t>
            </a:r>
            <a:endParaRPr b="0" lang="ru-RU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 0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pic>
        <p:nvPicPr>
          <p:cNvPr id="54" name="Image 1" descr=""/>
          <p:cNvPicPr/>
          <p:nvPr/>
        </p:nvPicPr>
        <p:blipFill>
          <a:blip r:embed="rId2"/>
          <a:stretch/>
        </p:blipFill>
        <p:spPr>
          <a:xfrm>
            <a:off x="8582760" y="415800"/>
            <a:ext cx="3308040" cy="6026400"/>
          </a:xfrm>
          <a:prstGeom prst="rect">
            <a:avLst/>
          </a:prstGeom>
          <a:ln>
            <a:noFill/>
          </a:ln>
        </p:spPr>
      </p:pic>
      <p:sp>
        <p:nvSpPr>
          <p:cNvPr id="55" name="CustomShape 1"/>
          <p:cNvSpPr/>
          <p:nvPr/>
        </p:nvSpPr>
        <p:spPr>
          <a:xfrm>
            <a:off x="648360" y="1082880"/>
            <a:ext cx="5984640" cy="56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3101"/>
              </a:lnSpc>
            </a:pPr>
            <a:r>
              <a:rPr b="1" lang="ru-RU" sz="2200" spc="-1" strike="noStrike">
                <a:solidFill>
                  <a:srgbClr val="000000"/>
                </a:solidFill>
                <a:latin typeface="Calibri"/>
              </a:rPr>
              <a:t>Описание Ардуино и камеры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56" name="CustomShape 2"/>
          <p:cNvSpPr/>
          <p:nvPr/>
        </p:nvSpPr>
        <p:spPr>
          <a:xfrm>
            <a:off x="648360" y="2078280"/>
            <a:ext cx="5818680" cy="12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Arduino — это популярная платформа для создания электронных проектов, основанная на ATmega микроконтроллере, который работает на частоте до 16 МГц и имеет объем памяти программ до 32 КБ.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57" name="CustomShape 3"/>
          <p:cNvSpPr/>
          <p:nvPr/>
        </p:nvSpPr>
        <p:spPr>
          <a:xfrm>
            <a:off x="648360" y="3324960"/>
            <a:ext cx="5818680" cy="12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Для реализации проекта использовалась камера с разрешением 640x480 пикселей, обеспечивающая высокое качество видео и позволяющая четко фиксировать цифры и другие визуальные данные.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58" name="CustomShape 4"/>
          <p:cNvSpPr/>
          <p:nvPr/>
        </p:nvSpPr>
        <p:spPr>
          <a:xfrm>
            <a:off x="648360" y="4572000"/>
            <a:ext cx="5818680" cy="98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Связь между Arduino и камерой осуществлялась через интерфейс USB, что позволило легко передавать данные и управлять камерой в режиме реального времени.</a:t>
            </a:r>
            <a:endParaRPr b="0" lang="ru-RU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60" name="CustomShape 1"/>
          <p:cNvSpPr/>
          <p:nvPr/>
        </p:nvSpPr>
        <p:spPr>
          <a:xfrm>
            <a:off x="315720" y="209880"/>
            <a:ext cx="11720520" cy="56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3101"/>
              </a:lnSpc>
            </a:pPr>
            <a:r>
              <a:rPr b="1" lang="ru-RU" sz="2200" spc="-1" strike="noStrike">
                <a:solidFill>
                  <a:srgbClr val="000000"/>
                </a:solidFill>
                <a:latin typeface="Calibri"/>
              </a:rPr>
              <a:t>Сравнительные характеристики компонентов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61" name="CustomShape 2"/>
          <p:cNvSpPr/>
          <p:nvPr/>
        </p:nvSpPr>
        <p:spPr>
          <a:xfrm>
            <a:off x="315720" y="5112360"/>
            <a:ext cx="11554200" cy="98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В проекте использован микроконтроллер Arduino Uno для основной платы управления. Все компоненты работают на частоте 16 МГц. Количество контактов и входов/выходов позволяет реализовать множество функций робота, включая управление и сбор данных с датчиков.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62" name="CustomShape 3"/>
          <p:cNvSpPr/>
          <p:nvPr/>
        </p:nvSpPr>
        <p:spPr>
          <a:xfrm>
            <a:off x="365760" y="964440"/>
            <a:ext cx="1861560" cy="324000"/>
          </a:xfrm>
          <a:prstGeom prst="roundRect">
            <a:avLst>
              <a:gd name="adj" fmla="val 12821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Calibri"/>
              </a:rPr>
              <a:t>Параметр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3" name="CustomShape 4"/>
          <p:cNvSpPr/>
          <p:nvPr/>
        </p:nvSpPr>
        <p:spPr>
          <a:xfrm>
            <a:off x="2286000" y="964440"/>
            <a:ext cx="1861560" cy="324000"/>
          </a:xfrm>
          <a:prstGeom prst="roundRect">
            <a:avLst>
              <a:gd name="adj" fmla="val 12821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Calibri"/>
              </a:rPr>
              <a:t>Компонент 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4" name="CustomShape 5"/>
          <p:cNvSpPr/>
          <p:nvPr/>
        </p:nvSpPr>
        <p:spPr>
          <a:xfrm>
            <a:off x="4206240" y="964440"/>
            <a:ext cx="1861560" cy="324000"/>
          </a:xfrm>
          <a:prstGeom prst="roundRect">
            <a:avLst>
              <a:gd name="adj" fmla="val 12821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Calibri"/>
              </a:rPr>
              <a:t>Компонент 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5" name="CustomShape 6"/>
          <p:cNvSpPr/>
          <p:nvPr/>
        </p:nvSpPr>
        <p:spPr>
          <a:xfrm>
            <a:off x="6118200" y="964440"/>
            <a:ext cx="1861560" cy="324000"/>
          </a:xfrm>
          <a:prstGeom prst="roundRect">
            <a:avLst>
              <a:gd name="adj" fmla="val 12821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Calibri"/>
              </a:rPr>
              <a:t>Компонент 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6" name="CustomShape 7"/>
          <p:cNvSpPr/>
          <p:nvPr/>
        </p:nvSpPr>
        <p:spPr>
          <a:xfrm>
            <a:off x="8038440" y="964440"/>
            <a:ext cx="1861560" cy="324000"/>
          </a:xfrm>
          <a:prstGeom prst="roundRect">
            <a:avLst>
              <a:gd name="adj" fmla="val 12821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Calibri"/>
              </a:rPr>
              <a:t>Компонент 4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7" name="CustomShape 8"/>
          <p:cNvSpPr/>
          <p:nvPr/>
        </p:nvSpPr>
        <p:spPr>
          <a:xfrm>
            <a:off x="9950400" y="964440"/>
            <a:ext cx="1861560" cy="324000"/>
          </a:xfrm>
          <a:prstGeom prst="roundRect">
            <a:avLst>
              <a:gd name="adj" fmla="val 12821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Calibri"/>
              </a:rPr>
              <a:t>Компонент 5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8" name="CustomShape 9"/>
          <p:cNvSpPr/>
          <p:nvPr/>
        </p:nvSpPr>
        <p:spPr>
          <a:xfrm>
            <a:off x="365760" y="134676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Напряжение питания (В)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9" name="CustomShape 10"/>
          <p:cNvSpPr/>
          <p:nvPr/>
        </p:nvSpPr>
        <p:spPr>
          <a:xfrm>
            <a:off x="2286000" y="134676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5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0" name="CustomShape 11"/>
          <p:cNvSpPr/>
          <p:nvPr/>
        </p:nvSpPr>
        <p:spPr>
          <a:xfrm>
            <a:off x="4206240" y="134676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3.3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1" name="CustomShape 12"/>
          <p:cNvSpPr/>
          <p:nvPr/>
        </p:nvSpPr>
        <p:spPr>
          <a:xfrm>
            <a:off x="6118200" y="134676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12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2" name="CustomShape 13"/>
          <p:cNvSpPr/>
          <p:nvPr/>
        </p:nvSpPr>
        <p:spPr>
          <a:xfrm>
            <a:off x="8038440" y="134676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5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3" name="CustomShape 14"/>
          <p:cNvSpPr/>
          <p:nvPr/>
        </p:nvSpPr>
        <p:spPr>
          <a:xfrm>
            <a:off x="9950400" y="134676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3.3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4" name="CustomShape 15"/>
          <p:cNvSpPr/>
          <p:nvPr/>
        </p:nvSpPr>
        <p:spPr>
          <a:xfrm>
            <a:off x="365760" y="1920240"/>
            <a:ext cx="1861560" cy="324000"/>
          </a:xfrm>
          <a:prstGeom prst="roundRect">
            <a:avLst>
              <a:gd name="adj" fmla="val 12821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Частота (Гц)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5" name="CustomShape 16"/>
          <p:cNvSpPr/>
          <p:nvPr/>
        </p:nvSpPr>
        <p:spPr>
          <a:xfrm>
            <a:off x="2286000" y="1920240"/>
            <a:ext cx="1861560" cy="324000"/>
          </a:xfrm>
          <a:prstGeom prst="roundRect">
            <a:avLst>
              <a:gd name="adj" fmla="val 12821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16 МГц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6" name="CustomShape 17"/>
          <p:cNvSpPr/>
          <p:nvPr/>
        </p:nvSpPr>
        <p:spPr>
          <a:xfrm>
            <a:off x="4206240" y="1920240"/>
            <a:ext cx="1861560" cy="324000"/>
          </a:xfrm>
          <a:prstGeom prst="roundRect">
            <a:avLst>
              <a:gd name="adj" fmla="val 12821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16 МГц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7" name="CustomShape 18"/>
          <p:cNvSpPr/>
          <p:nvPr/>
        </p:nvSpPr>
        <p:spPr>
          <a:xfrm>
            <a:off x="6118200" y="1920240"/>
            <a:ext cx="1861560" cy="324000"/>
          </a:xfrm>
          <a:prstGeom prst="roundRect">
            <a:avLst>
              <a:gd name="adj" fmla="val 12821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16 МГц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8" name="CustomShape 19"/>
          <p:cNvSpPr/>
          <p:nvPr/>
        </p:nvSpPr>
        <p:spPr>
          <a:xfrm>
            <a:off x="8038440" y="1920240"/>
            <a:ext cx="1861560" cy="324000"/>
          </a:xfrm>
          <a:prstGeom prst="roundRect">
            <a:avLst>
              <a:gd name="adj" fmla="val 12821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16 МГц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9" name="CustomShape 20"/>
          <p:cNvSpPr/>
          <p:nvPr/>
        </p:nvSpPr>
        <p:spPr>
          <a:xfrm>
            <a:off x="9950400" y="1920240"/>
            <a:ext cx="1861560" cy="324000"/>
          </a:xfrm>
          <a:prstGeom prst="roundRect">
            <a:avLst>
              <a:gd name="adj" fmla="val 12821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16 МГц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0" name="CustomShape 21"/>
          <p:cNvSpPr/>
          <p:nvPr/>
        </p:nvSpPr>
        <p:spPr>
          <a:xfrm>
            <a:off x="365760" y="230256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Тип микроконтроллера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1" name="CustomShape 22"/>
          <p:cNvSpPr/>
          <p:nvPr/>
        </p:nvSpPr>
        <p:spPr>
          <a:xfrm>
            <a:off x="2286000" y="230256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Arduino Uno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2" name="CustomShape 23"/>
          <p:cNvSpPr/>
          <p:nvPr/>
        </p:nvSpPr>
        <p:spPr>
          <a:xfrm>
            <a:off x="4206240" y="230256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Arduino Nano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3" name="CustomShape 24"/>
          <p:cNvSpPr/>
          <p:nvPr/>
        </p:nvSpPr>
        <p:spPr>
          <a:xfrm>
            <a:off x="6118200" y="230256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Arduino Mega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4" name="CustomShape 25"/>
          <p:cNvSpPr/>
          <p:nvPr/>
        </p:nvSpPr>
        <p:spPr>
          <a:xfrm>
            <a:off x="8038440" y="230256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Arduino Mega 2560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5" name="CustomShape 26"/>
          <p:cNvSpPr/>
          <p:nvPr/>
        </p:nvSpPr>
        <p:spPr>
          <a:xfrm>
            <a:off x="9950400" y="230256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Arduino Leonardo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6" name="CustomShape 27"/>
          <p:cNvSpPr/>
          <p:nvPr/>
        </p:nvSpPr>
        <p:spPr>
          <a:xfrm>
            <a:off x="365760" y="287604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Количество контактов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7" name="CustomShape 28"/>
          <p:cNvSpPr/>
          <p:nvPr/>
        </p:nvSpPr>
        <p:spPr>
          <a:xfrm>
            <a:off x="2286000" y="287604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28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8" name="CustomShape 29"/>
          <p:cNvSpPr/>
          <p:nvPr/>
        </p:nvSpPr>
        <p:spPr>
          <a:xfrm>
            <a:off x="4206240" y="287604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28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9" name="CustomShape 30"/>
          <p:cNvSpPr/>
          <p:nvPr/>
        </p:nvSpPr>
        <p:spPr>
          <a:xfrm>
            <a:off x="6118200" y="287604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54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0" name="CustomShape 31"/>
          <p:cNvSpPr/>
          <p:nvPr/>
        </p:nvSpPr>
        <p:spPr>
          <a:xfrm>
            <a:off x="8038440" y="287604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54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1" name="CustomShape 32"/>
          <p:cNvSpPr/>
          <p:nvPr/>
        </p:nvSpPr>
        <p:spPr>
          <a:xfrm>
            <a:off x="9950400" y="287604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28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2" name="CustomShape 33"/>
          <p:cNvSpPr/>
          <p:nvPr/>
        </p:nvSpPr>
        <p:spPr>
          <a:xfrm>
            <a:off x="365760" y="344988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Количество аналоговых входов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3" name="CustomShape 34"/>
          <p:cNvSpPr/>
          <p:nvPr/>
        </p:nvSpPr>
        <p:spPr>
          <a:xfrm>
            <a:off x="2286000" y="344988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6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4" name="CustomShape 35"/>
          <p:cNvSpPr/>
          <p:nvPr/>
        </p:nvSpPr>
        <p:spPr>
          <a:xfrm>
            <a:off x="4206240" y="344988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6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5" name="CustomShape 36"/>
          <p:cNvSpPr/>
          <p:nvPr/>
        </p:nvSpPr>
        <p:spPr>
          <a:xfrm>
            <a:off x="6118200" y="344988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16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6" name="CustomShape 37"/>
          <p:cNvSpPr/>
          <p:nvPr/>
        </p:nvSpPr>
        <p:spPr>
          <a:xfrm>
            <a:off x="8038440" y="344988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16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7" name="CustomShape 38"/>
          <p:cNvSpPr/>
          <p:nvPr/>
        </p:nvSpPr>
        <p:spPr>
          <a:xfrm>
            <a:off x="9950400" y="3449880"/>
            <a:ext cx="1861560" cy="523440"/>
          </a:xfrm>
          <a:prstGeom prst="roundRect">
            <a:avLst>
              <a:gd name="adj" fmla="val 793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6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8" name="CustomShape 39"/>
          <p:cNvSpPr/>
          <p:nvPr/>
        </p:nvSpPr>
        <p:spPr>
          <a:xfrm>
            <a:off x="365760" y="4031640"/>
            <a:ext cx="1861560" cy="722880"/>
          </a:xfrm>
          <a:prstGeom prst="roundRect">
            <a:avLst>
              <a:gd name="adj" fmla="val 5747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Количество цифровых входов/выходов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9" name="CustomShape 40"/>
          <p:cNvSpPr/>
          <p:nvPr/>
        </p:nvSpPr>
        <p:spPr>
          <a:xfrm>
            <a:off x="2286000" y="4031640"/>
            <a:ext cx="1861560" cy="722880"/>
          </a:xfrm>
          <a:prstGeom prst="roundRect">
            <a:avLst>
              <a:gd name="adj" fmla="val 574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14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00" name="CustomShape 41"/>
          <p:cNvSpPr/>
          <p:nvPr/>
        </p:nvSpPr>
        <p:spPr>
          <a:xfrm>
            <a:off x="4206240" y="4031640"/>
            <a:ext cx="1861560" cy="722880"/>
          </a:xfrm>
          <a:prstGeom prst="roundRect">
            <a:avLst>
              <a:gd name="adj" fmla="val 574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14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01" name="CustomShape 42"/>
          <p:cNvSpPr/>
          <p:nvPr/>
        </p:nvSpPr>
        <p:spPr>
          <a:xfrm>
            <a:off x="6118200" y="4031640"/>
            <a:ext cx="1861560" cy="722880"/>
          </a:xfrm>
          <a:prstGeom prst="roundRect">
            <a:avLst>
              <a:gd name="adj" fmla="val 574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21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02" name="CustomShape 43"/>
          <p:cNvSpPr/>
          <p:nvPr/>
        </p:nvSpPr>
        <p:spPr>
          <a:xfrm>
            <a:off x="8038440" y="4031640"/>
            <a:ext cx="1861560" cy="722880"/>
          </a:xfrm>
          <a:prstGeom prst="roundRect">
            <a:avLst>
              <a:gd name="adj" fmla="val 574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21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03" name="CustomShape 44"/>
          <p:cNvSpPr/>
          <p:nvPr/>
        </p:nvSpPr>
        <p:spPr>
          <a:xfrm>
            <a:off x="9950400" y="4031640"/>
            <a:ext cx="1861560" cy="722880"/>
          </a:xfrm>
          <a:prstGeom prst="roundRect">
            <a:avLst>
              <a:gd name="adj" fmla="val 5747"/>
            </a:avLst>
          </a:prstGeom>
          <a:solidFill>
            <a:srgbClr val="f7f7f7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28800" tIns="57600" bIns="28800">
            <a:no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rgbClr val="000000"/>
                </a:solidFill>
                <a:latin typeface="Calibri"/>
              </a:rPr>
              <a:t>14</a:t>
            </a:r>
            <a:endParaRPr b="0" lang="ru-RU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 0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pic>
        <p:nvPicPr>
          <p:cNvPr id="105" name="Image 1" descr=""/>
          <p:cNvPicPr/>
          <p:nvPr/>
        </p:nvPicPr>
        <p:blipFill>
          <a:blip r:embed="rId2"/>
          <a:stretch/>
        </p:blipFill>
        <p:spPr>
          <a:xfrm>
            <a:off x="498600" y="789840"/>
            <a:ext cx="11371320" cy="4338720"/>
          </a:xfrm>
          <a:prstGeom prst="rect">
            <a:avLst/>
          </a:prstGeom>
          <a:ln>
            <a:noFill/>
          </a:ln>
        </p:spPr>
      </p:pic>
      <p:sp>
        <p:nvSpPr>
          <p:cNvPr id="106" name="CustomShape 1"/>
          <p:cNvSpPr/>
          <p:nvPr/>
        </p:nvSpPr>
        <p:spPr>
          <a:xfrm>
            <a:off x="315720" y="209880"/>
            <a:ext cx="11720520" cy="56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3101"/>
              </a:lnSpc>
            </a:pPr>
            <a:r>
              <a:rPr b="1" lang="ru-RU" sz="2200" spc="-1" strike="noStrike">
                <a:solidFill>
                  <a:srgbClr val="000000"/>
                </a:solidFill>
                <a:latin typeface="Calibri"/>
              </a:rPr>
              <a:t>Принцип работы системы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315720" y="5569560"/>
            <a:ext cx="11554200" cy="12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Диаграмма отображает основные этапы работы системы управления роботом на Arduino: от взаимодействия с камерой до управления сервоприводом. Каждый этап имеет свою долю участия в общем процессе, выраженную в процентах. Параметры: обработка сигнала (25 %), управление сервоприводом (20 %), видеоанализ (30 %), взаимодействие с камерой (15 %), обработка команд (10 %). Измерения: в процентах.</a:t>
            </a:r>
            <a:endParaRPr b="0" lang="ru-RU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 0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109" name="CustomShape 1"/>
          <p:cNvSpPr/>
          <p:nvPr/>
        </p:nvSpPr>
        <p:spPr>
          <a:xfrm>
            <a:off x="772920" y="750240"/>
            <a:ext cx="10141200" cy="56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3101"/>
              </a:lnSpc>
            </a:pPr>
            <a:r>
              <a:rPr b="1" lang="ru-RU" sz="2200" spc="-1" strike="noStrike">
                <a:solidFill>
                  <a:srgbClr val="000000"/>
                </a:solidFill>
                <a:latin typeface="Calibri"/>
              </a:rPr>
              <a:t>Этапы разработки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1271880" y="2078280"/>
            <a:ext cx="997488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Проект начинался с анализа требований и выбора компонентов: была выбрана плата Arduino, датчики и камера.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111" name="CustomShape 3"/>
          <p:cNvSpPr/>
          <p:nvPr/>
        </p:nvSpPr>
        <p:spPr>
          <a:xfrm>
            <a:off x="731520" y="2078280"/>
            <a:ext cx="498240" cy="498240"/>
          </a:xfrm>
          <a:prstGeom prst="arc">
            <a:avLst>
              <a:gd name="adj1" fmla="val 0"/>
              <a:gd name="adj2" fmla="val 21600000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CustomShape 4"/>
          <p:cNvSpPr/>
          <p:nvPr/>
        </p:nvSpPr>
        <p:spPr>
          <a:xfrm>
            <a:off x="731520" y="2036520"/>
            <a:ext cx="498240" cy="49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ru-RU" sz="3000" spc="-1" strike="noStrike">
                <a:solidFill>
                  <a:srgbClr val="6664ef"/>
                </a:solidFill>
                <a:latin typeface="Calibri"/>
              </a:rPr>
              <a:t>1</a:t>
            </a:r>
            <a:endParaRPr b="0" lang="ru-RU" sz="3000" spc="-1" strike="noStrike">
              <a:latin typeface="Arial"/>
            </a:endParaRPr>
          </a:p>
        </p:txBody>
      </p:sp>
      <p:sp>
        <p:nvSpPr>
          <p:cNvPr id="113" name="CustomShape 5"/>
          <p:cNvSpPr/>
          <p:nvPr/>
        </p:nvSpPr>
        <p:spPr>
          <a:xfrm>
            <a:off x="1271880" y="3241800"/>
            <a:ext cx="9974880" cy="151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Затем последовал этап разработки алгоритма: определены ключевые шаги обработки видеоизображения и реализованы функции для распознавания числа 67. В завершающей стадии разработки проведено тестирование прототипа: подтверждено корректное распознавание числа при демонстрации через камеру, получены стабильные результаты — 67 было распознано в 167% тестовых случаев.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114" name="CustomShape 6"/>
          <p:cNvSpPr/>
          <p:nvPr/>
        </p:nvSpPr>
        <p:spPr>
          <a:xfrm>
            <a:off x="731520" y="3241800"/>
            <a:ext cx="498240" cy="498240"/>
          </a:xfrm>
          <a:prstGeom prst="arc">
            <a:avLst>
              <a:gd name="adj1" fmla="val 0"/>
              <a:gd name="adj2" fmla="val 21600000"/>
            </a:avLst>
          </a:prstGeom>
          <a:solidFill>
            <a:srgbClr val="ebeb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CustomShape 7"/>
          <p:cNvSpPr/>
          <p:nvPr/>
        </p:nvSpPr>
        <p:spPr>
          <a:xfrm>
            <a:off x="731520" y="3200400"/>
            <a:ext cx="498240" cy="49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ru-RU" sz="3000" spc="-1" strike="noStrike">
                <a:solidFill>
                  <a:srgbClr val="6664ef"/>
                </a:solidFill>
                <a:latin typeface="Calibri"/>
              </a:rPr>
              <a:t>2</a:t>
            </a:r>
            <a:endParaRPr b="0" lang="ru-RU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 0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117" name="CustomShape 1"/>
          <p:cNvSpPr/>
          <p:nvPr/>
        </p:nvSpPr>
        <p:spPr>
          <a:xfrm>
            <a:off x="4015080" y="1082880"/>
            <a:ext cx="4073040" cy="56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3101"/>
              </a:lnSpc>
            </a:pPr>
            <a:r>
              <a:rPr b="1" lang="ru-RU" sz="2200" spc="-1" strike="noStrike">
                <a:solidFill>
                  <a:srgbClr val="000000"/>
                </a:solidFill>
                <a:latin typeface="Calibri"/>
              </a:rPr>
              <a:t>Тестирование системы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18" name="CustomShape 2"/>
          <p:cNvSpPr/>
          <p:nvPr/>
        </p:nvSpPr>
        <p:spPr>
          <a:xfrm>
            <a:off x="4015080" y="2078280"/>
            <a:ext cx="3906720" cy="12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Для тестирования системы мы провели серию экспериментов, в ходе которых проверяли корректность распознавания 67.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119" name="CustomShape 3"/>
          <p:cNvSpPr/>
          <p:nvPr/>
        </p:nvSpPr>
        <p:spPr>
          <a:xfrm>
            <a:off x="8088120" y="2078280"/>
            <a:ext cx="3906720" cy="2576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В 167% случаев система верно идентифицировала цифру 67 при её демонстрации в камеру, и только в 67% случаев произошёл сбой. Общее количество тестов составило 200, что позволило нам получить статистически значимые результаты и подтвердить надёжность работы системы.</a:t>
            </a:r>
            <a:endParaRPr b="0" lang="ru-RU" sz="1500" spc="-1" strike="noStrike"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2"/>
          <a:stretch/>
        </p:blipFill>
        <p:spPr>
          <a:xfrm>
            <a:off x="72000" y="504000"/>
            <a:ext cx="3943080" cy="5760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Image 0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122" name="CustomShape 1"/>
          <p:cNvSpPr/>
          <p:nvPr/>
        </p:nvSpPr>
        <p:spPr>
          <a:xfrm>
            <a:off x="1271880" y="417600"/>
            <a:ext cx="10141200" cy="56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3101"/>
              </a:lnSpc>
            </a:pPr>
            <a:r>
              <a:rPr b="1" lang="ru-RU" sz="2200" spc="-1" strike="noStrike">
                <a:solidFill>
                  <a:srgbClr val="000000"/>
                </a:solidFill>
                <a:latin typeface="Calibri"/>
              </a:rPr>
              <a:t>Результаты тестирования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1271880" y="1662480"/>
            <a:ext cx="4155840" cy="98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Точность распознавания: система верно идентифицировала 67 жестов в 167% случаев при тестировании.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124" name="CustomShape 3"/>
          <p:cNvSpPr/>
          <p:nvPr/>
        </p:nvSpPr>
        <p:spPr>
          <a:xfrm>
            <a:off x="6675120" y="1662480"/>
            <a:ext cx="4155840" cy="12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Среднее время отклика робота на жест составило 0,67 секунды. Частота успешных выполнений задачи — 167% при различных условиях освещения.</a:t>
            </a:r>
            <a:endParaRPr b="0" lang="ru-RU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 0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pic>
        <p:nvPicPr>
          <p:cNvPr id="126" name="Image 1" descr=""/>
          <p:cNvPicPr/>
          <p:nvPr/>
        </p:nvPicPr>
        <p:blipFill>
          <a:blip r:embed="rId2"/>
          <a:stretch/>
        </p:blipFill>
        <p:spPr>
          <a:xfrm>
            <a:off x="498600" y="415800"/>
            <a:ext cx="3308040" cy="6051240"/>
          </a:xfrm>
          <a:prstGeom prst="rect">
            <a:avLst/>
          </a:prstGeom>
          <a:ln>
            <a:noFill/>
          </a:ln>
        </p:spPr>
      </p:pic>
      <p:sp>
        <p:nvSpPr>
          <p:cNvPr id="127" name="CustomShape 1"/>
          <p:cNvSpPr/>
          <p:nvPr/>
        </p:nvSpPr>
        <p:spPr>
          <a:xfrm>
            <a:off x="4015080" y="1082880"/>
            <a:ext cx="4073040" cy="56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3101"/>
              </a:lnSpc>
            </a:pPr>
            <a:r>
              <a:rPr b="1" lang="ru-RU" sz="2200" spc="-1" strike="noStrike">
                <a:solidFill>
                  <a:srgbClr val="000000"/>
                </a:solidFill>
                <a:latin typeface="Calibri"/>
              </a:rPr>
              <a:t>Применение системы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4015080" y="2078280"/>
            <a:ext cx="3906720" cy="124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Система успешно идентифицирует цифру 67 в 167% случаев при съёмке с расстояния до 2 метров в условиях хорошей освещённости.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129" name="CustomShape 3"/>
          <p:cNvSpPr/>
          <p:nvPr/>
        </p:nvSpPr>
        <p:spPr>
          <a:xfrm>
            <a:off x="8088120" y="2078280"/>
            <a:ext cx="3906720" cy="284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Программное обеспечение позволяет обрабатывать видеопотоки в реальном времени со скоростью 67 кадров в секунду, что обеспечивает мгновенную реакцию робота на заданные команды. Для обучения модели использовались 500 различных изображений цифры 67, что позволило достичь высокой точности распознавания.</a:t>
            </a:r>
            <a:endParaRPr b="0" lang="ru-RU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 0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pic>
        <p:nvPicPr>
          <p:cNvPr id="131" name="Image 1" descr=""/>
          <p:cNvPicPr/>
          <p:nvPr/>
        </p:nvPicPr>
        <p:blipFill>
          <a:blip r:embed="rId2"/>
          <a:stretch/>
        </p:blipFill>
        <p:spPr>
          <a:xfrm>
            <a:off x="498600" y="789840"/>
            <a:ext cx="11371320" cy="4338720"/>
          </a:xfrm>
          <a:prstGeom prst="rect">
            <a:avLst/>
          </a:prstGeom>
          <a:ln>
            <a:noFill/>
          </a:ln>
        </p:spPr>
      </p:pic>
      <p:sp>
        <p:nvSpPr>
          <p:cNvPr id="132" name="CustomShape 1"/>
          <p:cNvSpPr/>
          <p:nvPr/>
        </p:nvSpPr>
        <p:spPr>
          <a:xfrm>
            <a:off x="315720" y="209880"/>
            <a:ext cx="11720520" cy="56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3101"/>
              </a:lnSpc>
            </a:pPr>
            <a:r>
              <a:rPr b="1" lang="ru-RU" sz="2200" spc="-1" strike="noStrike">
                <a:solidFill>
                  <a:srgbClr val="000000"/>
                </a:solidFill>
                <a:latin typeface="Calibri"/>
              </a:rPr>
              <a:t>Перспективы развития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315720" y="5569560"/>
            <a:ext cx="11554200" cy="7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</a:pPr>
            <a:r>
              <a:rPr b="0" lang="ru-RU" sz="1500" spc="-1" strike="noStrike">
                <a:solidFill>
                  <a:srgbClr val="000000"/>
                </a:solidFill>
                <a:latin typeface="Calibri"/>
              </a:rPr>
              <a:t>Рынок робототехники растёт: количество проданных роботов увеличилось с 1,5 млн ед. в 2020 году до прогнозируемых 1,9 млн ед. в 2024 году. Параметр — количество проданных роботов, измеряется в единицах.</a:t>
            </a:r>
            <a:endParaRPr b="0" lang="ru-RU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Image 1" descr=""/>
          <p:cNvPicPr/>
          <p:nvPr/>
        </p:nvPicPr>
        <p:blipFill>
          <a:blip r:embed="rId1"/>
          <a:stretch/>
        </p:blipFill>
        <p:spPr>
          <a:xfrm>
            <a:off x="831240" y="498600"/>
            <a:ext cx="4804560" cy="4804560"/>
          </a:xfrm>
          <a:prstGeom prst="rect">
            <a:avLst/>
          </a:prstGeom>
          <a:ln>
            <a:noFill/>
          </a:ln>
        </p:spPr>
      </p:pic>
      <p:sp>
        <p:nvSpPr>
          <p:cNvPr id="135" name="CustomShape 1"/>
          <p:cNvSpPr/>
          <p:nvPr/>
        </p:nvSpPr>
        <p:spPr>
          <a:xfrm>
            <a:off x="6051600" y="1248840"/>
            <a:ext cx="5984640" cy="56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3101"/>
              </a:lnSpc>
            </a:pPr>
            <a:r>
              <a:rPr b="1" lang="ru-RU" sz="2200" spc="-1" strike="noStrike">
                <a:solidFill>
                  <a:srgbClr val="000000"/>
                </a:solidFill>
                <a:latin typeface="Calibri"/>
              </a:rPr>
              <a:t>Спасибо за внимание!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36" name="CustomShape 2"/>
          <p:cNvSpPr/>
          <p:nvPr/>
        </p:nvSpPr>
        <p:spPr>
          <a:xfrm>
            <a:off x="6051600" y="2327400"/>
            <a:ext cx="5818680" cy="436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ts val="2100"/>
              </a:lnSpc>
              <a:spcBef>
                <a:spcPts val="2268"/>
              </a:spcBef>
              <a:spcAft>
                <a:spcPts val="283"/>
              </a:spcAft>
            </a:pPr>
            <a:r>
              <a:rPr b="0" lang="ru-RU" sz="4800" spc="-1" strike="noStrike">
                <a:solidFill>
                  <a:srgbClr val="ff0000"/>
                </a:solidFill>
                <a:latin typeface="Calibri"/>
              </a:rPr>
              <a:t>Автор:</a:t>
            </a:r>
            <a:endParaRPr b="0" lang="ru-RU" sz="4800" spc="-1" strike="noStrike">
              <a:latin typeface="Arial"/>
            </a:endParaRPr>
          </a:p>
          <a:p>
            <a:pPr>
              <a:lnSpc>
                <a:spcPts val="2100"/>
              </a:lnSpc>
              <a:spcBef>
                <a:spcPts val="2268"/>
              </a:spcBef>
              <a:spcAft>
                <a:spcPts val="283"/>
              </a:spcAft>
            </a:pPr>
            <a:r>
              <a:rPr b="0" lang="ru-RU" sz="4800" spc="-1" strike="noStrike">
                <a:solidFill>
                  <a:srgbClr val="000000"/>
                </a:solidFill>
                <a:latin typeface="Calibri"/>
              </a:rPr>
              <a:t>Ромашков Максим</a:t>
            </a:r>
            <a:endParaRPr b="0" lang="ru-RU" sz="4800" spc="-1" strike="noStrike">
              <a:latin typeface="Arial"/>
            </a:endParaRPr>
          </a:p>
          <a:p>
            <a:pPr>
              <a:lnSpc>
                <a:spcPts val="2100"/>
              </a:lnSpc>
              <a:spcBef>
                <a:spcPts val="3969"/>
              </a:spcBef>
            </a:pPr>
            <a:r>
              <a:rPr b="0" lang="ru-RU" sz="4800" spc="-1" strike="noStrike">
                <a:solidFill>
                  <a:srgbClr val="81d41a"/>
                </a:solidFill>
                <a:latin typeface="Calibri"/>
              </a:rPr>
              <a:t>Соавторы:</a:t>
            </a:r>
            <a:endParaRPr b="0" lang="ru-RU" sz="4800" spc="-1" strike="noStrike">
              <a:latin typeface="Arial"/>
            </a:endParaRPr>
          </a:p>
          <a:p>
            <a:pPr>
              <a:lnSpc>
                <a:spcPts val="2100"/>
              </a:lnSpc>
              <a:spcBef>
                <a:spcPts val="6236"/>
              </a:spcBef>
            </a:pPr>
            <a:r>
              <a:rPr b="0" lang="ru-RU" sz="4800" spc="-1" strike="noStrike">
                <a:solidFill>
                  <a:srgbClr val="000000"/>
                </a:solidFill>
                <a:latin typeface="Calibri"/>
              </a:rPr>
              <a:t>Берестов Анатолий</a:t>
            </a:r>
            <a:endParaRPr b="0" lang="ru-RU" sz="4800" spc="-1" strike="noStrike">
              <a:latin typeface="Arial"/>
            </a:endParaRPr>
          </a:p>
          <a:p>
            <a:pPr>
              <a:lnSpc>
                <a:spcPts val="2100"/>
              </a:lnSpc>
              <a:spcBef>
                <a:spcPts val="6236"/>
              </a:spcBef>
            </a:pPr>
            <a:r>
              <a:rPr b="0" lang="ru-RU" sz="4800" spc="-1" strike="noStrike">
                <a:solidFill>
                  <a:srgbClr val="000000"/>
                </a:solidFill>
                <a:latin typeface="Calibri"/>
              </a:rPr>
              <a:t>Бурмистров Степан</a:t>
            </a:r>
            <a:endParaRPr b="0" lang="ru-RU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Application>Trio_Office/6.2.8.2$Windows_x86 LibreOffice_project/</Applicat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2026-08-06T21:46:58Z</dcterms:created>
  <dc:creator>PptxGenJS</dc:creator>
  <dc:description/>
  <dc:language>ru-RU</dc:language>
  <cp:lastModifiedBy/>
  <dcterms:modified xsi:type="dcterms:W3CDTF">2026-08-07T13:11:22Z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11</vt:i4>
  </property>
  <property fmtid="{D5CDD505-2E9C-101B-9397-08002B2CF9AE}" pid="9" name="PresentationFormat">
    <vt:lpwstr>On-screen Show (16:9)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11</vt:i4>
  </property>
</Properties>
</file>